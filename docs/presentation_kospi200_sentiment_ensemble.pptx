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6" r:id="rId4"/>
    <p:sldId id="269" r:id="rId5"/>
    <p:sldId id="267" r:id="rId6"/>
    <p:sldId id="270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4630400" cy="8229600"/>
  <p:notesSz cx="8229600" cy="14630400"/>
  <p:embeddedFontLst>
    <p:embeddedFont>
      <p:font typeface="Impact" panose="020B0806030902050204" pitchFamily="34" charset="0"/>
      <p:regular r:id="rId17"/>
    </p:embeddedFont>
    <p:embeddedFont>
      <p:font typeface="MuseoModerno Medium" panose="020B0600000101010101" charset="0"/>
      <p:regular r:id="rId18"/>
    </p:embeddedFont>
    <p:embeddedFont>
      <p:font typeface="Source Sans 3" panose="020B0600000101010101" charset="0"/>
      <p:regular r:id="rId1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7" d="100"/>
          <a:sy n="67" d="100"/>
        </p:scale>
        <p:origin x="0" y="10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4896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46080-1724-A0DF-1661-375C79D50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92B081-BA36-2A3B-BB95-793E91706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1790E6-0D6C-82CE-0DE4-B68D254AB8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A8000-EFAD-7A0C-E20A-CCE725E53F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719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80CF6-DB6A-20CB-EE68-69A558CF7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1666BA-0F52-1AD1-2A03-638B4A099D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12C2AA-28BE-621B-49AC-22D7122A2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4DD37-4174-8F3D-9F1B-3040F172DD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28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D3E5E-48F0-8DDD-C72A-C7787A11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B0927F-FE58-F6A7-6983-823F1DB782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92B6C-D6BA-3CC6-123D-3AEC8A121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B6A84-0055-CCC0-8406-CAED01CA44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107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EC63B-638A-0D0C-6597-0DCA41835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93D8A5-4717-B492-327F-F8288F106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7C31A5-36C9-E10E-1E47-DE05CCD17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1C259-A918-AFEB-E633-2151881633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723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82046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감성 및 거래 특성을 반영한 시계열 딥러닝 앙상블을 </a:t>
            </a:r>
            <a:r>
              <a:rPr lang="en-US" sz="4450" dirty="0" err="1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통한</a:t>
            </a: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Impact" panose="020B0806030902050204" pitchFamily="34" charset="0"/>
                <a:ea typeface="MuseoModerno Medium" pitchFamily="34" charset="-122"/>
                <a:cs typeface="MuseoModerno Medium" pitchFamily="34" charset="-120"/>
              </a:rPr>
              <a:t>KOSPI200 </a:t>
            </a: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지수 예측 연구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89" y="505884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팀 : 박박박사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4217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팀장 : 박재현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78465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팀원 : 박종원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47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연구 배경 및 목적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805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연구 배경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961680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금융시장에서 주가 예측은 투자 의사결정, 기업 가치 평가, 리스크 관리 등 다양한 영역에서 핵심적인 역할을 수행합니다. 그러나 주가는 복합적인 요인에 의해 결정되기 때문에 정확한 예측은 여전히 어려운 과제로 남아있습니다.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23805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연구 목적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2961680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본 연구는 한국어 뉴스 감성과 거래 특성을 결합한 다변량 시계열 입력 구조를 제안하고, Hybrid ensemble 기법을 활용한 LSTM 모델을 통해 KOSPI200의 다음날 종가 수준을 예측하는 방법론을 개발하였습니다.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4872514"/>
            <a:ext cx="13042821" cy="2252305"/>
          </a:xfrm>
          <a:prstGeom prst="roundRect">
            <a:avLst>
              <a:gd name="adj" fmla="val 1511"/>
            </a:avLst>
          </a:prstGeom>
          <a:solidFill>
            <a:srgbClr val="FFFCF5"/>
          </a:solidFill>
          <a:ln w="30480">
            <a:solidFill>
              <a:srgbClr val="D9D4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084" y="5129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주요 기여점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084" y="5620226"/>
            <a:ext cx="125282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국내 언론 생태계를 반영한 방송사(1군)와 경제지(2군) 구분 이원 가중 감성 집계식 제안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051084" y="6062424"/>
            <a:ext cx="125282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기업별 감성지표와 거래 특성을 결합한 다변량 시계열 입력 구조 설계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51084" y="6504623"/>
            <a:ext cx="125282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단일 모델 변동성을 완화하는 앙상블로 일반화 성능 강화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2CFE6-8C55-AFFF-3A46-1CDB74069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CC6DEA7-A59E-A98E-276B-FB948F19254B}"/>
              </a:ext>
            </a:extLst>
          </p:cNvPr>
          <p:cNvSpPr/>
          <p:nvPr/>
        </p:nvSpPr>
        <p:spPr>
          <a:xfrm>
            <a:off x="793790" y="11047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124E73"/>
                </a:solidFill>
                <a:latin typeface="MuseoModerno Medium" pitchFamily="34" charset="0"/>
                <a:ea typeface="+mj-ea"/>
                <a:cs typeface="MuseoModerno Medium" pitchFamily="34" charset="-120"/>
              </a:rPr>
              <a:t>koBERT</a:t>
            </a: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ko-KR" alt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학습</a:t>
            </a:r>
            <a:endParaRPr lang="en-US" sz="44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E381674-2C07-E1EE-A6B7-B5F9CE162F9F}"/>
              </a:ext>
            </a:extLst>
          </p:cNvPr>
          <p:cNvSpPr/>
          <p:nvPr/>
        </p:nvSpPr>
        <p:spPr>
          <a:xfrm>
            <a:off x="793790" y="23805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ko-KR" altLang="en-US" sz="2200" dirty="0">
                <a:solidFill>
                  <a:srgbClr val="124E73"/>
                </a:solidFill>
                <a:latin typeface="MuseoModerno Medium" pitchFamily="34" charset="0"/>
              </a:rPr>
              <a:t>학습 데이터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B68B86F-8ECF-28FB-0211-4C720B7DD6BA}"/>
              </a:ext>
            </a:extLst>
          </p:cNvPr>
          <p:cNvSpPr/>
          <p:nvPr/>
        </p:nvSpPr>
        <p:spPr>
          <a:xfrm>
            <a:off x="793790" y="2961680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ko-KR" altLang="en-US" sz="1750" dirty="0"/>
              <a:t>학습에 사용된 데이터 </a:t>
            </a:r>
            <a:r>
              <a:rPr lang="en-US" altLang="ko-KR" sz="1750" dirty="0" err="1"/>
              <a:t>Bigkinds</a:t>
            </a:r>
            <a:r>
              <a:rPr lang="ko-KR" altLang="en-US" sz="1750" dirty="0"/>
              <a:t>라는 플랫폼에서 크롤링하였습니다</a:t>
            </a:r>
            <a:r>
              <a:rPr lang="en-US" altLang="ko-KR" sz="1750" dirty="0"/>
              <a:t>. </a:t>
            </a:r>
            <a:r>
              <a:rPr lang="ko-KR" altLang="en-US" sz="1750" dirty="0"/>
              <a:t>사용은 주가에 </a:t>
            </a:r>
            <a:r>
              <a:rPr lang="en-US" altLang="ko-KR" sz="1750" dirty="0"/>
              <a:t>35% </a:t>
            </a:r>
            <a:r>
              <a:rPr lang="ko-KR" altLang="en-US" sz="1750" dirty="0"/>
              <a:t>차지하고 있는 </a:t>
            </a:r>
            <a:r>
              <a:rPr lang="en-US" altLang="ko-KR" sz="1750" dirty="0"/>
              <a:t>10</a:t>
            </a:r>
            <a:r>
              <a:rPr lang="ko-KR" altLang="en-US" sz="1750" dirty="0"/>
              <a:t>개 기업을 사용하였습니다</a:t>
            </a:r>
            <a:r>
              <a:rPr lang="en-US" altLang="ko-KR" sz="1750" dirty="0"/>
              <a:t>. </a:t>
            </a:r>
            <a:r>
              <a:rPr lang="en-US" altLang="ko-KR" sz="1750" b="1" dirty="0"/>
              <a:t>[</a:t>
            </a:r>
            <a:r>
              <a:rPr lang="ko-KR" altLang="en-US" sz="1600" b="1" dirty="0"/>
              <a:t>현대</a:t>
            </a:r>
            <a:r>
              <a:rPr lang="en-US" altLang="ko-KR" sz="1600" b="1" dirty="0"/>
              <a:t>, KB</a:t>
            </a:r>
            <a:r>
              <a:rPr lang="ko-KR" altLang="en-US" sz="1600" b="1" dirty="0"/>
              <a:t>금융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기아</a:t>
            </a:r>
            <a:r>
              <a:rPr lang="en-US" altLang="ko-KR" sz="1600" b="1" dirty="0"/>
              <a:t>, LG</a:t>
            </a:r>
            <a:r>
              <a:rPr lang="ko-KR" altLang="en-US" sz="1600" b="1" dirty="0"/>
              <a:t>화학</a:t>
            </a:r>
            <a:r>
              <a:rPr lang="en-US" altLang="ko-KR" sz="1600" b="1" dirty="0"/>
              <a:t>, LG</a:t>
            </a:r>
            <a:r>
              <a:rPr lang="ko-KR" altLang="en-US" sz="1600" b="1" dirty="0"/>
              <a:t>에너지솔루션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네이버</a:t>
            </a:r>
            <a:r>
              <a:rPr lang="en-US" altLang="ko-KR" sz="1600" b="1" dirty="0"/>
              <a:t>, </a:t>
            </a:r>
            <a:r>
              <a:rPr lang="ko-KR" altLang="en-US" sz="1600" b="1" dirty="0" err="1"/>
              <a:t>포스코홀딩스</a:t>
            </a:r>
            <a:r>
              <a:rPr lang="en-US" altLang="ko-KR" sz="1600" b="1" dirty="0"/>
              <a:t>, </a:t>
            </a:r>
            <a:r>
              <a:rPr lang="ko-KR" altLang="en-US" sz="1600" b="1" dirty="0" err="1"/>
              <a:t>삼성바이오로직스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삼 </a:t>
            </a:r>
            <a:r>
              <a:rPr lang="ko-KR" altLang="en-US" sz="1600" b="1" dirty="0" err="1"/>
              <a:t>성전자</a:t>
            </a:r>
            <a:r>
              <a:rPr lang="en-US" altLang="ko-KR" sz="1600" b="1" dirty="0"/>
              <a:t>, SK</a:t>
            </a:r>
            <a:r>
              <a:rPr lang="ko-KR" altLang="en-US" sz="1600" b="1" dirty="0"/>
              <a:t>하이닉스</a:t>
            </a:r>
            <a:r>
              <a:rPr lang="en-US" altLang="ko-KR" sz="1600" b="1" dirty="0"/>
              <a:t>.  ] </a:t>
            </a:r>
            <a:r>
              <a:rPr lang="ko-KR" altLang="en-US" sz="1750" dirty="0"/>
              <a:t>긍정적기사 </a:t>
            </a:r>
            <a:r>
              <a:rPr lang="en-US" altLang="ko-KR" sz="1750" dirty="0"/>
              <a:t>19,473</a:t>
            </a:r>
            <a:r>
              <a:rPr lang="ko-KR" altLang="en-US" sz="1750" dirty="0"/>
              <a:t>개 부정적기사 </a:t>
            </a:r>
            <a:r>
              <a:rPr lang="en-US" altLang="ko-KR" sz="1750" dirty="0"/>
              <a:t>19,783</a:t>
            </a:r>
            <a:r>
              <a:rPr lang="ko-KR" altLang="en-US" sz="1750" dirty="0"/>
              <a:t>개로 총 </a:t>
            </a:r>
            <a:r>
              <a:rPr lang="en-US" altLang="ko-KR" sz="1750" dirty="0"/>
              <a:t>39,456</a:t>
            </a:r>
            <a:r>
              <a:rPr lang="ko-KR" altLang="en-US" sz="1750" dirty="0"/>
              <a:t>개로 학습을 진행하였습니다</a:t>
            </a:r>
            <a:r>
              <a:rPr lang="en-US" altLang="ko-KR" sz="1750" dirty="0"/>
              <a:t>. </a:t>
            </a:r>
            <a:endParaRPr lang="en-US" sz="1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E439852-5E3E-E6D5-6F02-B9DC386EF345}"/>
              </a:ext>
            </a:extLst>
          </p:cNvPr>
          <p:cNvSpPr/>
          <p:nvPr/>
        </p:nvSpPr>
        <p:spPr>
          <a:xfrm>
            <a:off x="7599521" y="2961680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ko-KR" altLang="en-US" sz="1750" dirty="0"/>
              <a:t>해당 데이터를 예시 </a:t>
            </a:r>
            <a:r>
              <a:rPr lang="en-US" altLang="ko-KR" sz="1750" dirty="0"/>
              <a:t>200</a:t>
            </a:r>
            <a:r>
              <a:rPr lang="ko-KR" altLang="en-US" sz="1750" dirty="0"/>
              <a:t>개 뉴스기사로 진행해본 결과 </a:t>
            </a:r>
            <a:r>
              <a:rPr lang="en-US" altLang="ko-KR" sz="1750" dirty="0"/>
              <a:t>93%</a:t>
            </a:r>
            <a:r>
              <a:rPr lang="ko-KR" altLang="en-US" sz="1750" dirty="0"/>
              <a:t>의 정확도를 확인하고 사용하였습니다  </a:t>
            </a:r>
            <a:r>
              <a:rPr lang="en-US" sz="1750" dirty="0" err="1"/>
              <a:t>koBERT</a:t>
            </a:r>
            <a:r>
              <a:rPr lang="ko-KR" altLang="en-US" sz="1750" dirty="0"/>
              <a:t>를 사용하고 있는 다른 논문에서는 평균 </a:t>
            </a:r>
            <a:r>
              <a:rPr lang="en-US" altLang="ko-KR" sz="1750" dirty="0"/>
              <a:t>90% </a:t>
            </a:r>
            <a:r>
              <a:rPr lang="ko-KR" altLang="en-US" sz="1750" dirty="0"/>
              <a:t>이상을 사용하고 있는 정보를 보고 사용 가능하다고 판단하였습니다</a:t>
            </a:r>
            <a:r>
              <a:rPr lang="en-US" altLang="ko-KR" sz="1750" dirty="0"/>
              <a:t>. </a:t>
            </a:r>
            <a:r>
              <a:rPr lang="ko-KR" altLang="en-US" sz="1750" dirty="0"/>
              <a:t>전체적인 가공이 끝난 데이터는 토큰화 하여 저장하였습니다</a:t>
            </a:r>
            <a:r>
              <a:rPr lang="en-US" altLang="ko-KR" sz="1750" dirty="0"/>
              <a:t>. 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D433287-A7AC-9A10-A979-0F3B0D82BEFA}"/>
              </a:ext>
            </a:extLst>
          </p:cNvPr>
          <p:cNvSpPr/>
          <p:nvPr/>
        </p:nvSpPr>
        <p:spPr>
          <a:xfrm>
            <a:off x="793790" y="4872514"/>
            <a:ext cx="13042821" cy="2252305"/>
          </a:xfrm>
          <a:prstGeom prst="roundRect">
            <a:avLst>
              <a:gd name="adj" fmla="val 1511"/>
            </a:avLst>
          </a:prstGeom>
          <a:solidFill>
            <a:srgbClr val="FFFCF5"/>
          </a:solidFill>
          <a:ln w="30480">
            <a:solidFill>
              <a:srgbClr val="D9D4C9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F492C58-7CD2-F625-31F9-31DBCCFAE1F7}"/>
              </a:ext>
            </a:extLst>
          </p:cNvPr>
          <p:cNvSpPr/>
          <p:nvPr/>
        </p:nvSpPr>
        <p:spPr>
          <a:xfrm>
            <a:off x="1051084" y="5129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ko-KR" altLang="en-US" sz="2200" dirty="0"/>
              <a:t>가공 조건</a:t>
            </a:r>
            <a:endParaRPr lang="en-US" sz="2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7B94239-F7AE-E013-22E2-BFC3AC49D89B}"/>
              </a:ext>
            </a:extLst>
          </p:cNvPr>
          <p:cNvSpPr/>
          <p:nvPr/>
        </p:nvSpPr>
        <p:spPr>
          <a:xfrm>
            <a:off x="1051084" y="5620226"/>
            <a:ext cx="125282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ko-KR" altLang="en-US" sz="1750" dirty="0"/>
              <a:t>해당 뉴스기사에서 긍정 부정이 모호한 정보를 따로 정의하지 않고</a:t>
            </a:r>
            <a:r>
              <a:rPr lang="en-US" altLang="ko-KR" sz="1750" dirty="0"/>
              <a:t>, </a:t>
            </a:r>
            <a:r>
              <a:rPr lang="ko-KR" altLang="en-US" sz="1750" dirty="0"/>
              <a:t>긍정</a:t>
            </a:r>
            <a:r>
              <a:rPr lang="en-US" altLang="ko-KR" sz="1750" dirty="0"/>
              <a:t>(1)</a:t>
            </a:r>
            <a:r>
              <a:rPr lang="ko-KR" altLang="en-US" sz="1750" dirty="0"/>
              <a:t> 부정</a:t>
            </a:r>
            <a:r>
              <a:rPr lang="en-US" altLang="ko-KR" sz="1750" dirty="0"/>
              <a:t>(0)</a:t>
            </a:r>
            <a:r>
              <a:rPr lang="ko-KR" altLang="en-US" sz="1750" dirty="0"/>
              <a:t>으로만 정의</a:t>
            </a:r>
            <a:endParaRPr lang="en-US" sz="17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7CE1E50-B53D-6A16-9AFA-8AA18CCC6DEB}"/>
              </a:ext>
            </a:extLst>
          </p:cNvPr>
          <p:cNvSpPr/>
          <p:nvPr/>
        </p:nvSpPr>
        <p:spPr>
          <a:xfrm>
            <a:off x="1051084" y="6062424"/>
            <a:ext cx="125282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ko-KR" alt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주가와 상관없는 뉴스기사 제목과 열을 제거 </a:t>
            </a:r>
            <a:endParaRPr lang="en-US" sz="17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A035437-5946-AD65-065C-38DB8559E363}"/>
              </a:ext>
            </a:extLst>
          </p:cNvPr>
          <p:cNvSpPr/>
          <p:nvPr/>
        </p:nvSpPr>
        <p:spPr>
          <a:xfrm>
            <a:off x="1051084" y="6504623"/>
            <a:ext cx="125282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ko-KR" alt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학습 모델은 </a:t>
            </a:r>
            <a:r>
              <a:rPr lang="en-US" altLang="ko-KR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5e-5</a:t>
            </a:r>
            <a:r>
              <a:rPr lang="ko-KR" alt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가 더 좋았기 때문에 선정</a:t>
            </a:r>
            <a:r>
              <a:rPr lang="en-US" altLang="ko-KR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 </a:t>
            </a:r>
            <a:r>
              <a:rPr lang="en-US" altLang="ko-KR" sz="17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weigh_decay</a:t>
            </a:r>
            <a:r>
              <a:rPr lang="en-US" altLang="ko-KR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= 0.01 ,</a:t>
            </a:r>
            <a:r>
              <a:rPr lang="ko-KR" alt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altLang="ko-KR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epoch</a:t>
            </a:r>
            <a:r>
              <a:rPr lang="ko-KR" alt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는 </a:t>
            </a:r>
            <a:r>
              <a:rPr lang="en-US" altLang="ko-KR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</a:t>
            </a:r>
            <a:r>
              <a:rPr lang="ko-KR" alt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로 지정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88479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B6BAA-F3A2-D663-B488-7F88F5643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AC6DB65-F179-59D8-E239-2F6371B38750}"/>
              </a:ext>
            </a:extLst>
          </p:cNvPr>
          <p:cNvSpPr/>
          <p:nvPr/>
        </p:nvSpPr>
        <p:spPr>
          <a:xfrm>
            <a:off x="793790" y="11047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124E73"/>
                </a:solidFill>
                <a:latin typeface="MuseoModerno Medium" pitchFamily="34" charset="0"/>
                <a:ea typeface="+mj-ea"/>
                <a:cs typeface="MuseoModerno Medium" pitchFamily="34" charset="-120"/>
              </a:rPr>
              <a:t>koBERT</a:t>
            </a: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ko-KR" alt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학습</a:t>
            </a:r>
            <a:endParaRPr lang="en-US" sz="445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12979F3-AA34-CD83-2C64-FB6E0AE21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56" y="2453402"/>
            <a:ext cx="4384994" cy="46714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ABA2F7C-7CD7-3E6D-6204-17048A9073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7780" y="2453402"/>
            <a:ext cx="5801124" cy="240291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5D8228-3DC0-56B4-1794-AAB998C06C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7780" y="5234335"/>
            <a:ext cx="5801124" cy="189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505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A891D-F042-873F-3494-C80F3005E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21FDB4-752A-7406-F08B-653661F40648}"/>
              </a:ext>
            </a:extLst>
          </p:cNvPr>
          <p:cNvSpPr/>
          <p:nvPr/>
        </p:nvSpPr>
        <p:spPr>
          <a:xfrm>
            <a:off x="793790" y="11047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ko-KR" alt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뉴스기사 가중치</a:t>
            </a:r>
            <a:endParaRPr lang="en-US" sz="44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E58F8C-36E8-D3DD-D02A-98844F60ECFB}"/>
              </a:ext>
            </a:extLst>
          </p:cNvPr>
          <p:cNvSpPr/>
          <p:nvPr/>
        </p:nvSpPr>
        <p:spPr>
          <a:xfrm>
            <a:off x="793790" y="23805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ko-KR" altLang="en-US" sz="2200" dirty="0">
                <a:solidFill>
                  <a:srgbClr val="124E73"/>
                </a:solidFill>
                <a:latin typeface="MuseoModerno Medium" pitchFamily="34" charset="0"/>
              </a:rPr>
              <a:t>학습 데이터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1D04CAD-8A82-78E7-9DCA-93A4920DBD38}"/>
              </a:ext>
            </a:extLst>
          </p:cNvPr>
          <p:cNvSpPr/>
          <p:nvPr/>
        </p:nvSpPr>
        <p:spPr>
          <a:xfrm>
            <a:off x="793790" y="2961680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/>
              <a:t>1</a:t>
            </a:r>
            <a:r>
              <a:rPr lang="ko-KR" altLang="en-US" sz="1750" dirty="0"/>
              <a:t>군 방송사와 </a:t>
            </a:r>
            <a:r>
              <a:rPr lang="en-US" altLang="ko-KR" sz="1750" dirty="0"/>
              <a:t>2</a:t>
            </a:r>
            <a:r>
              <a:rPr lang="ko-KR" altLang="en-US" sz="1750" dirty="0"/>
              <a:t>군에 해당하는 경제지에 점수를 </a:t>
            </a:r>
            <a:r>
              <a:rPr lang="en-US" altLang="ko-KR" sz="1750" dirty="0"/>
              <a:t>3</a:t>
            </a:r>
            <a:r>
              <a:rPr lang="ko-KR" altLang="en-US" sz="1750" dirty="0"/>
              <a:t>대 </a:t>
            </a:r>
            <a:r>
              <a:rPr lang="en-US" altLang="ko-KR" sz="1750" dirty="0"/>
              <a:t>1</a:t>
            </a:r>
            <a:r>
              <a:rPr lang="ko-KR" altLang="en-US" sz="1750" dirty="0"/>
              <a:t>로 가중치로 두고 데이터 지정하여 차별점을 두었습니다</a:t>
            </a:r>
            <a:r>
              <a:rPr lang="en-US" altLang="ko-KR" sz="1750" dirty="0"/>
              <a:t>. </a:t>
            </a:r>
            <a:r>
              <a:rPr lang="ko-KR" altLang="en-US" sz="1750" dirty="0"/>
              <a:t>가중치를 둔 이유는 본 논문에 있는 </a:t>
            </a:r>
            <a:r>
              <a:rPr lang="en-US" altLang="ko-KR" sz="1750" dirty="0"/>
              <a:t>‘</a:t>
            </a:r>
            <a:r>
              <a:rPr lang="ko-KR" altLang="en-US" sz="1750" dirty="0" err="1"/>
              <a:t>여론집중도조사위원회</a:t>
            </a:r>
            <a:r>
              <a:rPr lang="en-US" altLang="ko-KR" sz="1750" dirty="0"/>
              <a:t>’</a:t>
            </a:r>
            <a:r>
              <a:rPr lang="ko-KR" altLang="en-US" sz="1750" dirty="0"/>
              <a:t>라는 보고서에 가중치를 두어 결과를 도출하는 과정에서 </a:t>
            </a:r>
            <a:r>
              <a:rPr lang="ko-KR" altLang="en-US" sz="1750" dirty="0" err="1"/>
              <a:t>염감을</a:t>
            </a:r>
            <a:r>
              <a:rPr lang="ko-KR" altLang="en-US" sz="1750" dirty="0"/>
              <a:t> 받았습니다</a:t>
            </a:r>
            <a:r>
              <a:rPr lang="en-US" altLang="ko-KR" sz="1750" dirty="0"/>
              <a:t>. </a:t>
            </a:r>
            <a:endParaRPr lang="en-US" sz="1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33EBBAD-06C4-85E4-ED54-5D9CD5EC3820}"/>
              </a:ext>
            </a:extLst>
          </p:cNvPr>
          <p:cNvSpPr/>
          <p:nvPr/>
        </p:nvSpPr>
        <p:spPr>
          <a:xfrm>
            <a:off x="7599521" y="2961680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ko-KR" altLang="en-US" sz="1750" dirty="0"/>
              <a:t>공휴일이거나 휴장일일 경우에는 개장 전까지의 일을 합쳐서 하나의 행으로 지정하고 </a:t>
            </a:r>
            <a:r>
              <a:rPr lang="en-US" altLang="ko-KR" sz="1750" dirty="0"/>
              <a:t>4</a:t>
            </a:r>
            <a:r>
              <a:rPr lang="ko-KR" altLang="en-US" sz="1750" dirty="0"/>
              <a:t>로 나눠 긍정과 부정의 합이 </a:t>
            </a:r>
            <a:r>
              <a:rPr lang="en-US" altLang="ko-KR" sz="1750" dirty="0"/>
              <a:t>1</a:t>
            </a:r>
            <a:r>
              <a:rPr lang="ko-KR" altLang="en-US" sz="1750" dirty="0"/>
              <a:t>에 수렴하도록 정리하였습니다</a:t>
            </a:r>
            <a:r>
              <a:rPr lang="en-US" altLang="ko-KR" sz="1750" dirty="0"/>
              <a:t>.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F6DE1CA-7421-6D9A-0D41-C65E1FA998CD}"/>
              </a:ext>
            </a:extLst>
          </p:cNvPr>
          <p:cNvSpPr/>
          <p:nvPr/>
        </p:nvSpPr>
        <p:spPr>
          <a:xfrm>
            <a:off x="793790" y="4872514"/>
            <a:ext cx="13042821" cy="2252305"/>
          </a:xfrm>
          <a:prstGeom prst="roundRect">
            <a:avLst>
              <a:gd name="adj" fmla="val 1511"/>
            </a:avLst>
          </a:prstGeom>
          <a:solidFill>
            <a:srgbClr val="FFFCF5"/>
          </a:solidFill>
          <a:ln w="30480">
            <a:solidFill>
              <a:srgbClr val="D9D4C9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A6C24A8-B1C7-9D73-F492-9B53F805E2F0}"/>
              </a:ext>
            </a:extLst>
          </p:cNvPr>
          <p:cNvSpPr/>
          <p:nvPr/>
        </p:nvSpPr>
        <p:spPr>
          <a:xfrm>
            <a:off x="1051084" y="5129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ko-KR" altLang="en-US" sz="2200" dirty="0">
                <a:solidFill>
                  <a:srgbClr val="2B4150"/>
                </a:solidFill>
                <a:latin typeface="MuseoModerno Medium" pitchFamily="34" charset="0"/>
              </a:rPr>
              <a:t>가공 조건</a:t>
            </a:r>
            <a:endParaRPr lang="en-US" sz="2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7E191D5-BC84-C3C4-7551-97C76FE8C4DB}"/>
              </a:ext>
            </a:extLst>
          </p:cNvPr>
          <p:cNvSpPr/>
          <p:nvPr/>
        </p:nvSpPr>
        <p:spPr>
          <a:xfrm>
            <a:off x="1051084" y="5620226"/>
            <a:ext cx="125282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altLang="ko-KR" sz="1750" dirty="0"/>
              <a:t>1</a:t>
            </a:r>
            <a:r>
              <a:rPr lang="ko-KR" altLang="en-US" sz="1750" dirty="0"/>
              <a:t>군과 </a:t>
            </a:r>
            <a:r>
              <a:rPr lang="en-US" altLang="ko-KR" sz="1750" dirty="0"/>
              <a:t>2</a:t>
            </a:r>
            <a:r>
              <a:rPr lang="ko-KR" altLang="en-US" sz="1750" dirty="0"/>
              <a:t>군에 경계는 인지도와 댓글 수로 판단하였습니다</a:t>
            </a:r>
            <a:r>
              <a:rPr lang="en-US" altLang="ko-KR" sz="1750" dirty="0"/>
              <a:t>.</a:t>
            </a:r>
            <a:endParaRPr lang="en-US" sz="17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DF66CF3-1FF5-8C65-55E6-2349E8B7F033}"/>
              </a:ext>
            </a:extLst>
          </p:cNvPr>
          <p:cNvSpPr/>
          <p:nvPr/>
        </p:nvSpPr>
        <p:spPr>
          <a:xfrm>
            <a:off x="1051084" y="6062424"/>
            <a:ext cx="125282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4CD976C-398A-FB5D-F483-5C74526465F8}"/>
              </a:ext>
            </a:extLst>
          </p:cNvPr>
          <p:cNvSpPr/>
          <p:nvPr/>
        </p:nvSpPr>
        <p:spPr>
          <a:xfrm>
            <a:off x="1051084" y="6504623"/>
            <a:ext cx="125282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263757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0A372-11F9-1214-E94B-6371A0949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25677CA-20B3-5442-A4C7-A359B10E4DCC}"/>
              </a:ext>
            </a:extLst>
          </p:cNvPr>
          <p:cNvSpPr/>
          <p:nvPr/>
        </p:nvSpPr>
        <p:spPr>
          <a:xfrm>
            <a:off x="793790" y="11047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ko-KR" alt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초기 </a:t>
            </a:r>
            <a:r>
              <a:rPr lang="en-US" altLang="ko-KR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LSTM</a:t>
            </a:r>
            <a:endParaRPr lang="en-US" sz="44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A0EE64-8620-64D7-3D09-4AD55BE4F605}"/>
              </a:ext>
            </a:extLst>
          </p:cNvPr>
          <p:cNvSpPr/>
          <p:nvPr/>
        </p:nvSpPr>
        <p:spPr>
          <a:xfrm>
            <a:off x="793790" y="23805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ko-KR" altLang="en-US" sz="2200" dirty="0">
                <a:solidFill>
                  <a:srgbClr val="124E73"/>
                </a:solidFill>
                <a:latin typeface="MuseoModerno Medium" pitchFamily="34" charset="0"/>
              </a:rPr>
              <a:t>학습 데이터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32452E6-86D6-8CAF-AEA6-B6CD165B320E}"/>
              </a:ext>
            </a:extLst>
          </p:cNvPr>
          <p:cNvSpPr/>
          <p:nvPr/>
        </p:nvSpPr>
        <p:spPr>
          <a:xfrm>
            <a:off x="793790" y="2961680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ko-KR" altLang="en-US" sz="1750" dirty="0"/>
              <a:t>목표로 잡는</a:t>
            </a:r>
            <a:endParaRPr lang="en-US" sz="1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710DE27-4E33-6890-9DF2-DB15154DD955}"/>
              </a:ext>
            </a:extLst>
          </p:cNvPr>
          <p:cNvSpPr/>
          <p:nvPr/>
        </p:nvSpPr>
        <p:spPr>
          <a:xfrm>
            <a:off x="7599521" y="2961680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ko-KR" altLang="en-US" sz="1750" dirty="0"/>
              <a:t>공휴일이거나 휴장일일 경우에는 개장 전까지의 일을 합쳐서 하나의 행으로 지정하고 </a:t>
            </a:r>
            <a:r>
              <a:rPr lang="en-US" altLang="ko-KR" sz="1750" dirty="0"/>
              <a:t>4</a:t>
            </a:r>
            <a:r>
              <a:rPr lang="ko-KR" altLang="en-US" sz="1750" dirty="0"/>
              <a:t>로 나눠 긍정과 부정의 합이 </a:t>
            </a:r>
            <a:r>
              <a:rPr lang="en-US" altLang="ko-KR" sz="1750" dirty="0"/>
              <a:t>1</a:t>
            </a:r>
            <a:r>
              <a:rPr lang="ko-KR" altLang="en-US" sz="1750" dirty="0"/>
              <a:t>에 수렴하도록 정리하였습니다</a:t>
            </a:r>
            <a:r>
              <a:rPr lang="en-US" altLang="ko-KR" sz="1750" dirty="0"/>
              <a:t>.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99FBD4E-CF86-3D41-9DE0-E30D655B5B6E}"/>
              </a:ext>
            </a:extLst>
          </p:cNvPr>
          <p:cNvSpPr/>
          <p:nvPr/>
        </p:nvSpPr>
        <p:spPr>
          <a:xfrm>
            <a:off x="793790" y="4872514"/>
            <a:ext cx="13042821" cy="2252305"/>
          </a:xfrm>
          <a:prstGeom prst="roundRect">
            <a:avLst>
              <a:gd name="adj" fmla="val 1511"/>
            </a:avLst>
          </a:prstGeom>
          <a:solidFill>
            <a:srgbClr val="FFFCF5"/>
          </a:solidFill>
          <a:ln w="30480">
            <a:solidFill>
              <a:srgbClr val="D9D4C9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23CF6A7-B54D-EA62-80AE-568804A5F34B}"/>
              </a:ext>
            </a:extLst>
          </p:cNvPr>
          <p:cNvSpPr/>
          <p:nvPr/>
        </p:nvSpPr>
        <p:spPr>
          <a:xfrm>
            <a:off x="1051084" y="5129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ko-KR" altLang="en-US" sz="2200" dirty="0">
                <a:solidFill>
                  <a:srgbClr val="2B4150"/>
                </a:solidFill>
                <a:latin typeface="MuseoModerno Medium" pitchFamily="34" charset="0"/>
              </a:rPr>
              <a:t>가공 조건</a:t>
            </a:r>
            <a:endParaRPr lang="en-US" sz="2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0B48E22-43FF-FD6A-F34F-8B610CB78CB3}"/>
              </a:ext>
            </a:extLst>
          </p:cNvPr>
          <p:cNvSpPr/>
          <p:nvPr/>
        </p:nvSpPr>
        <p:spPr>
          <a:xfrm>
            <a:off x="1051084" y="5620226"/>
            <a:ext cx="125282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altLang="ko-KR" sz="1750" dirty="0"/>
              <a:t>1</a:t>
            </a:r>
            <a:r>
              <a:rPr lang="ko-KR" altLang="en-US" sz="1750" dirty="0"/>
              <a:t>군과 </a:t>
            </a:r>
            <a:r>
              <a:rPr lang="en-US" altLang="ko-KR" sz="1750" dirty="0"/>
              <a:t>2</a:t>
            </a:r>
            <a:r>
              <a:rPr lang="ko-KR" altLang="en-US" sz="1750" dirty="0"/>
              <a:t>군에 경계는 인지도와 댓글 수로 판단하였습니다</a:t>
            </a:r>
            <a:r>
              <a:rPr lang="en-US" altLang="ko-KR" sz="1750" dirty="0"/>
              <a:t>.</a:t>
            </a:r>
            <a:endParaRPr lang="en-US" sz="17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5884ED8-43C1-E3B5-5D7C-9B0131FCFACC}"/>
              </a:ext>
            </a:extLst>
          </p:cNvPr>
          <p:cNvSpPr/>
          <p:nvPr/>
        </p:nvSpPr>
        <p:spPr>
          <a:xfrm>
            <a:off x="1051084" y="6062424"/>
            <a:ext cx="125282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2F4BF08-B20C-AA2D-FB4C-8462A0EF7DFA}"/>
              </a:ext>
            </a:extLst>
          </p:cNvPr>
          <p:cNvSpPr/>
          <p:nvPr/>
        </p:nvSpPr>
        <p:spPr>
          <a:xfrm>
            <a:off x="1051084" y="6504623"/>
            <a:ext cx="125282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194809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87701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연구 방법론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1925955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1074" y="21527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뉴스 텍스트 감성 분석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41074" y="2643188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KoBERT를 활용하여 기사별 긍정 및 부정 감성 추출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3286839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1074" y="35136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데이터 전처리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41074" y="4004072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감성 확률과 거래 특성(거래량 및 변동률)을 다변량 입력으로 구성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4647724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1074" y="48745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시계열 예측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41074" y="5364956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LSTM, GRU, CNN-LSTM 및 Seed Ensemble 기반 예측 수행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6280190" y="626375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KoBERT는 SKTBrain에서 개발한 한국어 특화 BERT 모델로, Transformer 인코더 기반의 다층 Self-Attention을 통해 양방향 문맥 정보를 학습할 수 있으며, 서브워드 토크나이저를 사용해 형태소 분석과 띄어쓰기 관련 문제를 최소화합니다.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025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데이터셋 구성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260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비정형 데이터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907149"/>
            <a:ext cx="62447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2022년 1월 27일부터 2024년 12월 30일까지 빅카인즈를 통해 수집한 뉴스 데이터를 활용하였습니다. KOSPI200 지수에 포함된 상위 10개 기업(현대차, KB금융, 기아, LG화학, LG에너지솔루션, 네이버, 포스코홀딩스, 삼성바이오로직스, 삼성전자, SK하이닉스)으로 제한하였습니다.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23260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정형 데이터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2907149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KRX에서 제공하는 KOSPI200 지수의 종가와 개별 기업의 거래량으로 구성됩니다. 거래 특성으로는 거래량(Trading)과 변동률(change)을 주요 변수로 선정하였습니다. 휴일과 주말의 결측치는 가장 최근의 영업일 데이터로 대체하여 처리하였습니다.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29423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10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1455420" y="63260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분석 기업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93790" y="681644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KOSPI200 상위 10개 기업 (약 35% 차지)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235893" y="529423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3:1</a:t>
            </a:r>
            <a:endParaRPr lang="en-US" sz="5850" dirty="0"/>
          </a:p>
        </p:txBody>
      </p:sp>
      <p:sp>
        <p:nvSpPr>
          <p:cNvPr id="11" name="Text 9"/>
          <p:cNvSpPr/>
          <p:nvPr/>
        </p:nvSpPr>
        <p:spPr>
          <a:xfrm>
            <a:off x="5897523" y="63260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가중치 비율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35893" y="681644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방송사:경제지 이원 가중 집계 비율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677995" y="529423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21일</a:t>
            </a:r>
            <a:endParaRPr lang="en-US" sz="5850" dirty="0"/>
          </a:p>
        </p:txBody>
      </p:sp>
      <p:sp>
        <p:nvSpPr>
          <p:cNvPr id="14" name="Text 12"/>
          <p:cNvSpPr/>
          <p:nvPr/>
        </p:nvSpPr>
        <p:spPr>
          <a:xfrm>
            <a:off x="10339626" y="63260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이동 윈도우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77995" y="681644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시계열 샘플 입력 시퀀스 구성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34576" y="590312"/>
            <a:ext cx="4630341" cy="578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시계열 예측 모델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134576" y="1446848"/>
            <a:ext cx="7847648" cy="1409224"/>
          </a:xfrm>
          <a:prstGeom prst="roundRect">
            <a:avLst>
              <a:gd name="adj" fmla="val 1971"/>
            </a:avLst>
          </a:prstGeom>
          <a:solidFill>
            <a:srgbClr val="FFFCF5"/>
          </a:solidFill>
          <a:ln w="22860">
            <a:solidFill>
              <a:srgbClr val="D9D4C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34576" y="1446848"/>
            <a:ext cx="45720" cy="1409224"/>
          </a:xfrm>
          <a:prstGeom prst="roundRect">
            <a:avLst>
              <a:gd name="adj" fmla="val 60767"/>
            </a:avLst>
          </a:prstGeom>
          <a:solidFill>
            <a:srgbClr val="325F7B"/>
          </a:solidFill>
          <a:ln/>
        </p:spPr>
      </p:sp>
      <p:sp>
        <p:nvSpPr>
          <p:cNvPr id="6" name="Text 3"/>
          <p:cNvSpPr/>
          <p:nvPr/>
        </p:nvSpPr>
        <p:spPr>
          <a:xfrm>
            <a:off x="6388298" y="1654850"/>
            <a:ext cx="3731657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LSTM (Long Short-Term Memory)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388298" y="2055376"/>
            <a:ext cx="7385923" cy="592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RNN의 장기 의존성 문제를 해결하기 위해 고안된 구조로, 입력 게이트, 망각 게이트, 출력 게이트로 구성됩니다. 금융 시계열의 장기 추세를 심층적으로 학습하는 데 중점을 두었습니다.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34576" y="3041213"/>
            <a:ext cx="7847648" cy="1409224"/>
          </a:xfrm>
          <a:prstGeom prst="roundRect">
            <a:avLst>
              <a:gd name="adj" fmla="val 1971"/>
            </a:avLst>
          </a:prstGeom>
          <a:solidFill>
            <a:srgbClr val="FFFCF5"/>
          </a:solidFill>
          <a:ln w="22860">
            <a:solidFill>
              <a:srgbClr val="D9D4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34576" y="3041213"/>
            <a:ext cx="45720" cy="1409224"/>
          </a:xfrm>
          <a:prstGeom prst="roundRect">
            <a:avLst>
              <a:gd name="adj" fmla="val 60767"/>
            </a:avLst>
          </a:prstGeom>
          <a:solidFill>
            <a:srgbClr val="325F7B"/>
          </a:solidFill>
          <a:ln/>
        </p:spPr>
      </p:sp>
      <p:sp>
        <p:nvSpPr>
          <p:cNvPr id="10" name="Text 7"/>
          <p:cNvSpPr/>
          <p:nvPr/>
        </p:nvSpPr>
        <p:spPr>
          <a:xfrm>
            <a:off x="6388298" y="3249216"/>
            <a:ext cx="3068241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GRU (Gated Recurrent Unit)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388298" y="3649742"/>
            <a:ext cx="7385923" cy="592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LSTM의 단순화된 변형으로, 업데이트 게이트와 리셋 게이트만으로 상태 전이를 제어합니다. 파라미터 수를 줄여 학습 효율성을 높이면서도 장단기 의존성을 모두 학습할 수 있습니다.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134576" y="4635579"/>
            <a:ext cx="7847648" cy="1409224"/>
          </a:xfrm>
          <a:prstGeom prst="roundRect">
            <a:avLst>
              <a:gd name="adj" fmla="val 1971"/>
            </a:avLst>
          </a:prstGeom>
          <a:solidFill>
            <a:srgbClr val="FFFCF5"/>
          </a:solidFill>
          <a:ln w="22860">
            <a:solidFill>
              <a:srgbClr val="D9D4C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34576" y="4635579"/>
            <a:ext cx="45720" cy="1409224"/>
          </a:xfrm>
          <a:prstGeom prst="roundRect">
            <a:avLst>
              <a:gd name="adj" fmla="val 60767"/>
            </a:avLst>
          </a:prstGeom>
          <a:solidFill>
            <a:srgbClr val="325F7B"/>
          </a:solidFill>
          <a:ln/>
        </p:spPr>
      </p:sp>
      <p:sp>
        <p:nvSpPr>
          <p:cNvPr id="14" name="Text 11"/>
          <p:cNvSpPr/>
          <p:nvPr/>
        </p:nvSpPr>
        <p:spPr>
          <a:xfrm>
            <a:off x="6388298" y="4843582"/>
            <a:ext cx="2315170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CNN-LSTM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388298" y="5244108"/>
            <a:ext cx="7385923" cy="592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합성곱 신경망(CNN)과 LSTM을 결합한 하이브리드 구조입니다. CNN은 입력 시계열에서 단기적인 국소 패턴을 추출하고, LSTM은 장기 의존성을 학습합니다.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134576" y="6229945"/>
            <a:ext cx="7847648" cy="1409224"/>
          </a:xfrm>
          <a:prstGeom prst="roundRect">
            <a:avLst>
              <a:gd name="adj" fmla="val 1971"/>
            </a:avLst>
          </a:prstGeom>
          <a:solidFill>
            <a:srgbClr val="FFFCF5"/>
          </a:solidFill>
          <a:ln w="22860">
            <a:solidFill>
              <a:srgbClr val="D9D4C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34576" y="6229945"/>
            <a:ext cx="45720" cy="1409224"/>
          </a:xfrm>
          <a:prstGeom prst="roundRect">
            <a:avLst>
              <a:gd name="adj" fmla="val 60767"/>
            </a:avLst>
          </a:prstGeom>
          <a:solidFill>
            <a:srgbClr val="325F7B"/>
          </a:solidFill>
          <a:ln/>
        </p:spPr>
      </p:sp>
      <p:sp>
        <p:nvSpPr>
          <p:cNvPr id="18" name="Text 15"/>
          <p:cNvSpPr/>
          <p:nvPr/>
        </p:nvSpPr>
        <p:spPr>
          <a:xfrm>
            <a:off x="6388298" y="6437948"/>
            <a:ext cx="2315170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Seed Ensemble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88298" y="6838474"/>
            <a:ext cx="7385923" cy="592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동일한 모델 구조를 서로 다른 초기 시드로 학습한 후, 예측 결과를 평균화하는 기법입니다. 초기 파라미터 설정 차이로 인한 결과 변동성을 줄이고 일반화 성능을 개선합니다.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390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모델 학습 및 평가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299960" y="1896308"/>
            <a:ext cx="30480" cy="5599271"/>
          </a:xfrm>
          <a:prstGeom prst="roundRect">
            <a:avLst>
              <a:gd name="adj" fmla="val 111628"/>
            </a:avLst>
          </a:prstGeom>
          <a:solidFill>
            <a:srgbClr val="D9D4C9"/>
          </a:solidFill>
          <a:ln/>
        </p:spPr>
      </p:sp>
      <p:sp>
        <p:nvSpPr>
          <p:cNvPr id="4" name="Shape 2"/>
          <p:cNvSpPr/>
          <p:nvPr/>
        </p:nvSpPr>
        <p:spPr>
          <a:xfrm>
            <a:off x="6410087" y="2136219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D9D4C9"/>
          </a:solidFill>
          <a:ln/>
        </p:spPr>
      </p:sp>
      <p:sp>
        <p:nvSpPr>
          <p:cNvPr id="5" name="Shape 3"/>
          <p:cNvSpPr/>
          <p:nvPr/>
        </p:nvSpPr>
        <p:spPr>
          <a:xfrm>
            <a:off x="7060049" y="189630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3EEE3"/>
          </a:solidFill>
          <a:ln/>
        </p:spPr>
      </p:sp>
      <p:sp>
        <p:nvSpPr>
          <p:cNvPr id="6" name="Text 4"/>
          <p:cNvSpPr/>
          <p:nvPr/>
        </p:nvSpPr>
        <p:spPr>
          <a:xfrm>
            <a:off x="7145119" y="193881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3345894" y="19741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데이터 분할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2464594"/>
            <a:ext cx="538734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Train 71%, Validation 15.1%, Test 13.9%로 분할하여 시계열의 시간적 순서를 엄격하게 보존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539871" y="3497104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D9D4C9"/>
          </a:solidFill>
          <a:ln/>
        </p:spPr>
      </p:sp>
      <p:sp>
        <p:nvSpPr>
          <p:cNvPr id="10" name="Shape 8"/>
          <p:cNvSpPr/>
          <p:nvPr/>
        </p:nvSpPr>
        <p:spPr>
          <a:xfrm>
            <a:off x="7060049" y="325719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3EEE3"/>
          </a:solidFill>
          <a:ln/>
        </p:spPr>
      </p:sp>
      <p:sp>
        <p:nvSpPr>
          <p:cNvPr id="11" name="Text 9"/>
          <p:cNvSpPr/>
          <p:nvPr/>
        </p:nvSpPr>
        <p:spPr>
          <a:xfrm>
            <a:off x="7145119" y="32996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8449270" y="33350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정규화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449270" y="3825478"/>
            <a:ext cx="538734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MinMaxScaler를 적용하여 모든 입력 변수를 0~1 범위로 정규화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6410087" y="4670108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D9D4C9"/>
          </a:solidFill>
          <a:ln/>
        </p:spPr>
      </p:sp>
      <p:sp>
        <p:nvSpPr>
          <p:cNvPr id="15" name="Shape 13"/>
          <p:cNvSpPr/>
          <p:nvPr/>
        </p:nvSpPr>
        <p:spPr>
          <a:xfrm>
            <a:off x="7060049" y="443019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3EEE3"/>
          </a:solidFill>
          <a:ln/>
        </p:spPr>
      </p:sp>
      <p:sp>
        <p:nvSpPr>
          <p:cNvPr id="16" name="Text 14"/>
          <p:cNvSpPr/>
          <p:nvPr/>
        </p:nvSpPr>
        <p:spPr>
          <a:xfrm>
            <a:off x="7145119" y="447270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3345894" y="45080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모델 학습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4998482"/>
            <a:ext cx="538734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Adam optimizer 사용, epoch 100회, batch size 64로 진행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539871" y="5843111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D9D4C9"/>
          </a:solidFill>
          <a:ln/>
        </p:spPr>
      </p:sp>
      <p:sp>
        <p:nvSpPr>
          <p:cNvPr id="20" name="Shape 18"/>
          <p:cNvSpPr/>
          <p:nvPr/>
        </p:nvSpPr>
        <p:spPr>
          <a:xfrm>
            <a:off x="7060049" y="560320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3EEE3"/>
          </a:solidFill>
          <a:ln/>
        </p:spPr>
      </p:sp>
      <p:sp>
        <p:nvSpPr>
          <p:cNvPr id="21" name="Text 19"/>
          <p:cNvSpPr/>
          <p:nvPr/>
        </p:nvSpPr>
        <p:spPr>
          <a:xfrm>
            <a:off x="7145119" y="564570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4</a:t>
            </a:r>
            <a:endParaRPr lang="en-US" sz="2650" dirty="0"/>
          </a:p>
        </p:txBody>
      </p:sp>
      <p:sp>
        <p:nvSpPr>
          <p:cNvPr id="22" name="Text 20"/>
          <p:cNvSpPr/>
          <p:nvPr/>
        </p:nvSpPr>
        <p:spPr>
          <a:xfrm>
            <a:off x="8449270" y="56810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성능 평가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449270" y="6171486"/>
            <a:ext cx="538734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MAE, RMSE, MAPE, R², F1 Score로 평가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324" y="538639"/>
            <a:ext cx="4895493" cy="611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실험 결과 분석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685324" y="1444347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주요 발견점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85324" y="2044065"/>
            <a:ext cx="13259753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감성 분석 데이터 추가 시 RMSE와 MAE가 각각 21.3%와 11.7% 감소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324" y="2425898"/>
            <a:ext cx="13259753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순감성 점수 추가 시 RMSE와 MAE가 8.6%와 8.1% 추가 감소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324" y="2807732"/>
            <a:ext cx="13259753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거래량과 변동성, 앙상블 적용 시 RMSE 26.2%, MAE 24.3% 대폭 감소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324" y="3189565"/>
            <a:ext cx="13259753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주가 방향성 예측 정확도 60.2% 달성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9368" y="4995982"/>
            <a:ext cx="2408515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3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73%</a:t>
            </a:r>
            <a:endParaRPr lang="en-US" sz="38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049" y="3772138"/>
            <a:ext cx="2937272" cy="29372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89842" y="6954083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모델 설명력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85324" y="7377470"/>
            <a:ext cx="4256723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최종 앙상블 모델의 R² 값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110764" y="4995982"/>
            <a:ext cx="2408515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3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60.2%</a:t>
            </a:r>
            <a:endParaRPr lang="en-US" sz="38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6445" y="3772138"/>
            <a:ext cx="2937272" cy="29372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91238" y="6954083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방향성 예측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5186720" y="7377470"/>
            <a:ext cx="4256842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주가 상승/하락 방향 예측 정확도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0612279" y="4995982"/>
            <a:ext cx="2408515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3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7.44</a:t>
            </a:r>
            <a:endParaRPr lang="en-US" sz="38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7960" y="3772138"/>
            <a:ext cx="2937272" cy="29372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92753" y="6954083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예측 오차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9688235" y="7377470"/>
            <a:ext cx="4256842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최종 모델의 RMSE 값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619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최적 모델 성능 비교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10922"/>
            <a:ext cx="6407944" cy="3075742"/>
          </a:xfrm>
          <a:prstGeom prst="roundRect">
            <a:avLst>
              <a:gd name="adj" fmla="val 1106"/>
            </a:avLst>
          </a:prstGeom>
          <a:solidFill>
            <a:srgbClr val="F3EEE3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28377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LSTM+GRU 모델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328154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RMSE: 7.564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20604" y="3770352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MAE: 6.065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20604" y="4212550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R²: 0.712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20604" y="4654748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MAPE: 0.0178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20604" y="5096947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F1 Score: 0.608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428548" y="2610922"/>
            <a:ext cx="6408063" cy="3075742"/>
          </a:xfrm>
          <a:prstGeom prst="roundRect">
            <a:avLst>
              <a:gd name="adj" fmla="val 1106"/>
            </a:avLst>
          </a:prstGeom>
          <a:solidFill>
            <a:srgbClr val="F3EEE3"/>
          </a:solidFill>
          <a:ln/>
        </p:spPr>
      </p:sp>
      <p:sp>
        <p:nvSpPr>
          <p:cNvPr id="11" name="Text 9"/>
          <p:cNvSpPr/>
          <p:nvPr/>
        </p:nvSpPr>
        <p:spPr>
          <a:xfrm>
            <a:off x="7655362" y="2837736"/>
            <a:ext cx="29334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LSTM+GRU+CNN 모델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55362" y="3328154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RMSE: 7.573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655362" y="3770352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MAE: 6.262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655362" y="4212550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R²: 0.711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655362" y="4654748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MAPE: 0.0183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655362" y="5096947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F1 Score: 0.541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93790" y="594181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두 모델 모두 기존의 단일 구조에 비해 안정적이고 강건한 결과를 보였으며, 특히 LSTM+GRU 모델은 모든 지표에서 균형 잡힌 성능을 보여 최종적으로 가장 우수한 모델로 선정되었습니다.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620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백테스팅 결과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719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전략 규칙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95310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긍정(순감성 양수) 발생 시 매수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39530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부정(순감성 음수) 발생 시 매도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83750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초기 자본: 1천만 원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27970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거래 비용: 수수료 0.05%, 슬리피지 0.02%</a:t>
            </a:r>
            <a:endParaRPr lang="en-US" sz="17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521" y="2400300"/>
            <a:ext cx="6244709" cy="281642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945523" y="521672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162A36"/>
          </a:solidFill>
          <a:ln/>
        </p:spPr>
      </p:sp>
      <p:sp>
        <p:nvSpPr>
          <p:cNvPr id="10" name="Text 7"/>
          <p:cNvSpPr/>
          <p:nvPr/>
        </p:nvSpPr>
        <p:spPr>
          <a:xfrm>
            <a:off x="9233297" y="5216723"/>
            <a:ext cx="141231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전략 수익률(%)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10798016" y="521672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325F7B"/>
          </a:solidFill>
          <a:ln/>
        </p:spPr>
      </p:sp>
      <p:sp>
        <p:nvSpPr>
          <p:cNvPr id="12" name="Text 9"/>
          <p:cNvSpPr/>
          <p:nvPr/>
        </p:nvSpPr>
        <p:spPr>
          <a:xfrm>
            <a:off x="11085790" y="5216723"/>
            <a:ext cx="19501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Buy&amp;Hold 수익률(%)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640758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삼성전자(+4.31%), 삼성바이오로직스(+2.60%), 네이버(+1.83%) 등 일부 기업은 Buy&amp;Hold 대비 초과성과를 보였습니다. 이는 감성 신호가 IT·바이오·플랫폼 등 특정 산업에서 실제 가격 흐름과 부분적으로 부합했음을 시사합니다.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000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결론 및 향후 연구 방향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32409"/>
            <a:ext cx="4196358" cy="4146113"/>
          </a:xfrm>
          <a:prstGeom prst="roundRect">
            <a:avLst>
              <a:gd name="adj" fmla="val 821"/>
            </a:avLst>
          </a:prstGeom>
          <a:solidFill>
            <a:srgbClr val="FFFCF5"/>
          </a:solidFill>
          <a:ln w="30480">
            <a:solidFill>
              <a:srgbClr val="D9D4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3790" y="2132409"/>
            <a:ext cx="60960" cy="4146113"/>
          </a:xfrm>
          <a:prstGeom prst="roundRect">
            <a:avLst>
              <a:gd name="adj" fmla="val 55814"/>
            </a:avLst>
          </a:prstGeom>
          <a:solidFill>
            <a:srgbClr val="325F7B"/>
          </a:solidFill>
          <a:ln/>
        </p:spPr>
      </p:sp>
      <p:sp>
        <p:nvSpPr>
          <p:cNvPr id="5" name="Text 3"/>
          <p:cNvSpPr/>
          <p:nvPr/>
        </p:nvSpPr>
        <p:spPr>
          <a:xfrm>
            <a:off x="1112044" y="23897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주요 결론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12044" y="2880122"/>
            <a:ext cx="36208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뉴스 감성과 거래 특성을 결합한 다변량 입력이 예측 성능 향상에 기여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112044" y="3842562"/>
            <a:ext cx="36208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하이브리드 앙상블이 변동성 큰 구간에서도 안정적 일반화 성능 제공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112044" y="4935904"/>
            <a:ext cx="36208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방송사와 경제지에 대한 이원 가중 방식이 국내 언론 생태계 특성 반영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2132409"/>
            <a:ext cx="4196358" cy="4146113"/>
          </a:xfrm>
          <a:prstGeom prst="roundRect">
            <a:avLst>
              <a:gd name="adj" fmla="val 821"/>
            </a:avLst>
          </a:prstGeom>
          <a:solidFill>
            <a:srgbClr val="FFFCF5"/>
          </a:solidFill>
          <a:ln w="30480">
            <a:solidFill>
              <a:srgbClr val="D9D4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6962" y="2132409"/>
            <a:ext cx="60960" cy="4146113"/>
          </a:xfrm>
          <a:prstGeom prst="roundRect">
            <a:avLst>
              <a:gd name="adj" fmla="val 55814"/>
            </a:avLst>
          </a:prstGeom>
          <a:solidFill>
            <a:srgbClr val="325F7B"/>
          </a:solidFill>
          <a:ln/>
        </p:spPr>
      </p:sp>
      <p:sp>
        <p:nvSpPr>
          <p:cNvPr id="11" name="Text 9"/>
          <p:cNvSpPr/>
          <p:nvPr/>
        </p:nvSpPr>
        <p:spPr>
          <a:xfrm>
            <a:off x="5535216" y="23897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한계점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35216" y="2880122"/>
            <a:ext cx="36208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약 3년으로 한정된 분석 구간으로 장기 구조 변화 포착 어려움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5535216" y="3685223"/>
            <a:ext cx="36208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감성 모델의 도메인 적합성 제한 가능성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535216" y="4490323"/>
            <a:ext cx="36208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금리·환율·글로벌 지표 등 외생 변수 배제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133" y="2132409"/>
            <a:ext cx="4196358" cy="4146113"/>
          </a:xfrm>
          <a:prstGeom prst="roundRect">
            <a:avLst>
              <a:gd name="adj" fmla="val 821"/>
            </a:avLst>
          </a:prstGeom>
          <a:solidFill>
            <a:srgbClr val="FFFCF5"/>
          </a:solidFill>
          <a:ln w="30480">
            <a:solidFill>
              <a:srgbClr val="D9D4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40133" y="2132409"/>
            <a:ext cx="60960" cy="4146113"/>
          </a:xfrm>
          <a:prstGeom prst="roundRect">
            <a:avLst>
              <a:gd name="adj" fmla="val 55814"/>
            </a:avLst>
          </a:prstGeom>
          <a:solidFill>
            <a:srgbClr val="325F7B"/>
          </a:solidFill>
          <a:ln/>
        </p:spPr>
      </p:sp>
      <p:sp>
        <p:nvSpPr>
          <p:cNvPr id="17" name="Text 15"/>
          <p:cNvSpPr/>
          <p:nvPr/>
        </p:nvSpPr>
        <p:spPr>
          <a:xfrm>
            <a:off x="9958388" y="23897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향후 연구 방향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958388" y="2880122"/>
            <a:ext cx="36208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금융·거시 지표를 포함한 확장형 입력 구성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958388" y="3685223"/>
            <a:ext cx="36208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Transformer 계열 모델과의 비교 연구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9958388" y="4490323"/>
            <a:ext cx="36208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강화학습 기반 실행전략 시뮬레이션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9958388" y="5295424"/>
            <a:ext cx="36208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실거래 근사 백테스트를 통한 외적 타당성 검증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93790" y="653367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본 연구는 한국어 뉴스 감성과 거래 특성을 결합한 다변량 입력으로 KOSPI200의 단기 예측 가능성을 </a:t>
            </a:r>
            <a:r>
              <a:rPr lang="en-US" sz="17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검증하였으며</a:t>
            </a: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</a:t>
            </a:r>
          </a:p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LSTM+GRU Hybrid Ensemble이 KOSPI200 T+1 예측에 가장 효과적인 방법론임을 확인하였습니다.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1183</Words>
  <Application>Microsoft Office PowerPoint</Application>
  <PresentationFormat>사용자 지정</PresentationFormat>
  <Paragraphs>147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MuseoModerno Medium</vt:lpstr>
      <vt:lpstr>Arial</vt:lpstr>
      <vt:lpstr>Source Sans 3</vt:lpstr>
      <vt:lpstr>Impact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재현 박</cp:lastModifiedBy>
  <cp:revision>4</cp:revision>
  <dcterms:created xsi:type="dcterms:W3CDTF">2025-08-22T11:38:40Z</dcterms:created>
  <dcterms:modified xsi:type="dcterms:W3CDTF">2025-08-22T12:31:29Z</dcterms:modified>
</cp:coreProperties>
</file>